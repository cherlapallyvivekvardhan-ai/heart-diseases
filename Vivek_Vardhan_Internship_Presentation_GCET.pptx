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Geethanjali College of Engineering and Technology</a:t>
            </a:r>
          </a:p>
          <a:p>
            <a:pPr algn="ctr">
              <a:defRPr sz="1300">
                <a:solidFill>
                  <a:srgbClr val="06B6D4"/>
                </a:solidFill>
              </a:defRPr>
            </a:pPr>
            <a:r>
              <a:t>(UGC Autonomous) | (Affiliated to JNTUH, Approved by AICTE, New Delhi)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Cheeryal (V), Keesara (M), Medchal Dist. - 501 301, Telangana</a:t>
            </a:r>
          </a:p>
          <a:p>
            <a:pPr algn="ctr">
              <a:defRPr sz="1400" b="1">
                <a:solidFill>
                  <a:srgbClr val="14B8A6"/>
                </a:solidFill>
              </a:defRPr>
            </a:pPr>
            <a:r>
              <a:t>DEPARTMENT OF COMPUTER SCIENCE AND ENGINEERING (AI &amp; ML)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194560"/>
            <a:ext cx="9448495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331720"/>
            <a:ext cx="8899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INTERNSHIP TITLE: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CardioScan AI: Clinical Heart Disease Risk Prediction &amp; Production Deployment System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End-to-End Machine Learning Pipeline, Clinical Calibration &amp; Cloud Microservice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480560"/>
            <a:ext cx="9448495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617720"/>
            <a:ext cx="8899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STUDENT CREDENTIALS: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Name: Vivek Vardhan               Roll No: 21R11A66XX / Candidate ID: GCET-AIML-2026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Year / Semester: IV Year / I Sem     Section: CSE(AI&amp;ML) - Section 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Organization: Machine Learning &amp; AI Industry Internship Program | Submission Date: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MAJOR INTERNSHIP / CAPSTONE PROJECT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Introduction: Clinical AI for Cardiovascular Risk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1. Background &amp; Global Clinical Burden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Cardiovascular diseases (CVDs) remain the #1 global cause of mortality, causing ~17.9 million annual deaths.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Early diagnostic intervention significantly curtails heart failure and ischemic fatalities.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Traditional risk scoring (Framingham score, stress ECG) can be time-intensive, subjective, and prone to diagnostic latency.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Machine Learning models leverage complex, non-linear multi-factorial interactions across physiological, blood, and stress biomarkers.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2. Clinical AI Safety: Sensitivity (Recall) Priority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In healthcare AI, Recall (Sensitivity) strictly supersedes generic classification accuracy.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False Negative (FN) Hazard: A cardiac patient incorrectly classified as 'healthy' is discharged without care, posing immediate mortality risk.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False Positive (FP) Consequence: A healthy patient flagged 'at risk' undergoes harmless, non-invasive confirmatory testing (Echocardiogram).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Project Goal: Engineer a robust, serialized ML pipeline achieving &gt;90% Sensitivity, coupled with a sub-millisecond cloud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MAJOR INTERNSHIP / CAPSTONE PROJECT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Related Work: Evolution of Cardiac Risk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Traditional Clinical Heuristics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Framingham Risk Score &amp; SCORE2 calculate risk based on age, cholesterol, and smoking via static lookup tables. Limitations: Low sensitivity to subtle ECG abnormalities and lack of non-linear interaction modeling.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Shallow Machine Learning Classifiers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Literature heavily explores Decision Trees, Naive Bayes, and SVM on the UCI Cleveland dataset. While interpretable, unpruned Decision Trees exhibit severe overfitting on small clinical cohorts (N=303), yielding unstable decision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918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Production ML &amp; Calibrated Logits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Standardized, regularized Logistic Regression offers optimal probabilistic calibration and high AUC (~0.88-0.92). When paired with strictly leak-free StandardScaling, it delivers high clinical sensitivity with zero inference variance.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60704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RESEARCH GAP IDENTIFIED &amp; ADDRESSED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Most academic models remain isolated in Jupyter Notebooks without serialization, API contracts, or real-time web deployment. This project bridges the lab-to-production gap with full Docker containerization and public HTTPS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MAJOR INTERNSHIP / CAPSTONE PROJECT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Technologies &amp; Production Architecture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Core ML &amp; Data Science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Python 3.14.3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Core computational engine and asynchronous runtime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Scikit-Learn 1.9.1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StandardScaler, Logistic Regression, Decision Trees, ROC metrics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Pandas 3.0.6 &amp; NumPy 2.5.3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Vectorized dataset manipulation and sub-millisecond dot products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Joblib 1.6.0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Thread-safe production artifact serialization (.joblib)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Web &amp; Microservices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Streamlit 1.65.0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Interactive clinician dashboard with live patient sliders and batch triage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FastAPI 0.142.4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Asynchronous OpenAPI REST microservice with Pydantic validation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Uvicorn 0.54.0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Lightning-fast ASGI server with multi-worker scaling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Tailwind CSS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Modern, responsive, mobile-first single page application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DevOps &amp; Deployment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Docker &amp; Docker Compose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Multi-stage containerization exposing ports 8501 and 8000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Cloudflare Tunnel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Secure Zero-Trust public HTTPS tunnels with edge TLS/QUIC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Git 2.56.0 &amp; GitHub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Version control and CI/CD hosting under cherlapallyvivekvardhan-ai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GZip Compression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75% asset reduction yielding under 100ms web page 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MAJOR INTERNSHIP / CAPSTONE PROJECT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Work (Part 1): Dataset Ingestion &amp; Feature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1. UCI Cleveland Clinical Dataset (heart.csv)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Dimensions: 303 clinical records across 14 diagnostic dimensions.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age: Patient age in years (18 - 100).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sex: Biological gender (1 = Male, 0 = Female).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cp: Chest pain type (0: Typical, 1: Atypical, 2: Non-anginal, 3: Asymptomatic).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trestbps: Resting blood pressure on hospital admission (mm Hg).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chol: Serum cholesterol concentration (mg/dl).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fbs: Fasting blood sugar &gt; 120 mg/dl (1 = True, 0 = False).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restecg: Resting ECG (0: Normal, 1: ST-T wave, 2: LV hypertrophy).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thalach: Maximum heart rate achieved during treadmill stress.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exang: Exercise-induced angina (1 = Yes, 0 = No).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2. Data Hygiene &amp; Zero Data Leakage Pipeline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Advanced Cardiographic Markers: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oldpeak: ST depression induced by exercise relative to rest.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slope: Peak exercise ST segment slope (0: Upsloping, 1: Flat, 2: Downsloping).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ca: Number of major coronary vessels (0-3) colored by fluoroscopy.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thal: Thallium scintigraphy (1: Normal, 2: Fixed defect, 3: Reversible defect).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Data Imputation: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Null value verification executed via df.isnull().sum().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Numeric robust median imputation implemented to eliminate outlier distortions.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Stratified 80/20 Train/Test Partitioning: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Train Set: 242 records (80%), Test Set: 61 records (20%).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Preserves exact 54.4% positive / 45.6% negative class distribution.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StandardScaler Transformation: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Fitted strictly on training set (scaler.fit_transform(X_train)) to prevent statistical data leakage to test cohort.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MAJOR INTERNSHIP / CAPSTONE PROJECT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Work (Part 2): Model Benchmarking &amp; Metric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CAPSTONE BENCHMARK PERFORMANCE MATRIX (Stratified 80/20 Split)</a:t>
            </a:r>
          </a:p>
          <a:p>
            <a:pPr>
              <a:defRPr sz="1100" b="1">
                <a:solidFill>
                  <a:srgbClr val="0D9488"/>
                </a:solidFill>
                <a:latin typeface="Courier New"/>
              </a:defRPr>
            </a:pPr>
            <a:r>
              <a:t>Algorithm                           | Features Used             | Accuracy   | Precision  | Recall (Sensitivity) | ROC-AUC Score  | Verdict</a:t>
            </a:r>
          </a:p>
          <a:p>
            <a:pPr>
              <a:defRPr sz="1100" b="1">
                <a:solidFill>
                  <a:srgbClr val="22C55E"/>
                </a:solidFill>
                <a:latin typeface="Courier New"/>
              </a:defRPr>
            </a:pPr>
            <a:r>
              <a:t>Logistic Regression (Production)    | StandardScaled (Fit on Train) | 80.33%     | 76.92%     | 90.91%               | 0.8690         | Champion (Selected)</a:t>
            </a:r>
          </a:p>
          <a:p>
            <a:pPr>
              <a:defRPr sz="1100">
                <a:solidFill>
                  <a:srgbClr val="1E293B"/>
                </a:solidFill>
                <a:latin typeface="Courier New"/>
              </a:defRPr>
            </a:pPr>
            <a:r>
              <a:t>Decision Tree (Depth=4)             | Raw Unscaled Features     | 78.69%     | 76.32%     | 87.88%               | 0.8009         | Benchmark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🎯 High Sensitivity (Recall: 90.91%)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Out of 33 confirmed cardiac patients in the test set, the model correctly flagged 30 cases. Only 3 false negatives occurred, satisfying clinical triage safety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29184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0690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📈 Superior ROC-AUC (0.8690)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Logistic Regression achieved an Area Under the Curve (AUC) of 0.8690, surpassing Decision Trees (0.8009) by ~6.8%. This reflects robust discriminatory power across all clinical decision thresholds.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3832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069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🔒 Artifact Serialization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Exported production artifacts via joblib.dump():</a:t>
            </a:r>
            <a:br/>
            <a:r>
              <a:t>• heart_disease_logistic_model.joblib</a:t>
            </a:r>
            <a:br/>
            <a:r>
              <a:t>• heart_disease_scaler.joblib</a:t>
            </a:r>
            <a:br/>
            <a:r>
              <a:t>Zero training overhead during live cloud inference.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MAJOR INTERNSHIP / CAPSTONE PROJECT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Work (Part 3): Diagnostic Figures &amp; Visualizations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6858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art_disease_evalua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658368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280160"/>
            <a:ext cx="3566160" cy="4937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4173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Visual Evaluation Breakdown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Subplot 1: Confusion Matrix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True Negatives (TN): 19 patients safely identified as healthy.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True Positives (TP): 30 cardiac patients identified for triage.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False Positives (FP): 9 cases triggering non-invasive confirmation.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False Negatives (FN): Restricted to 3 cases (90.9% Recall).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Subplot 2: ROC Curves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Logistic Regression (Blue Curve): Consistent lift over random guess with AUC = 0.869.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Decision Tree (Red Dashed): Stepped curve with AUC = 0.801, exhibiting discrete threshold limitations.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MAJOR INTERNSHIP / CAPSTONE PROJECT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Work (Part 4): Web Deployment &amp; Microsecond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1. Multi-Modality Deployment Architecture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Interactive Streamlit Web Application (app.py):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Clinical form with sliders for all 13 markers.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Real-time animated risk meter &amp; decision badges.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Batch patient CSV screening with 1-click report export.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FastAPI High-Throughput REST Microservice (api_app.py):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OpenAPI / Swagger interactive documentation (/docs).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/api/predict: Single patient clinical inference endpoint.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/api/predict/batch: Array-based bulk patient screening.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Embedded lightweight Single-Page Application (index.html).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GitHub Public Repository Integration: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Pushed to cherlapallyvivekvardhan-ai/heart-diseases.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2. Microsecond Inference Optimization (&lt; 0.1 ms)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Pre-Cached Vectorized Dot-Product Math: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Bypassed repeated DataFrame allocations on incoming requests.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Computed standardized scaling and logistic sigmoid directly: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 P(Disease) = 1 / (1 + exp(-(W^T * ((X - mean)/scale) + b)))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Benchmarked throughput: 358,000+ predictions / second!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GZip Compression &amp; Caching: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Compressed assets by 78%, delivering sub-100ms page load in Google Chrome.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Zero-Trust Cloudflare HTTPS Public Tunnel: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Active global URL accessible worldwide on Chrome, Safari &amp; mobile devices.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MAJOR INTERNSHIP / CAPSTONE PROJECT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Learning After Internship (Part 1): Machine Learning &amp; Clinical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Clinical AI Safety &amp; Metrics Trade-Offs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Learned that raw classification accuracy is insufficient in high-stakes domains. Mastered precision-recall trade-offs and prioritized Sensitivity (Recall &gt; 90%) to prevent fatal False Negatives in coronary triage.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Data Hygiene &amp; Preventing Leakage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Gained deep hands-on expertise in data preprocessing pipelines. Understood why transformations like StandardScaler must strictly be fitted only on the training set (stratified split) before applying to test records to avoid data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Probabilistic Calibration vs Trees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Analyzed the fundamental difference between discrete threshold partitioning (Decision Trees) and probabilistic log-odds calibration (Logistic Regression). Realized why regularized linear models often generalize better on small clinical samples.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Multi-Project ML Engineering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Successfully explored adjacent capstone pathways: FinTech credit underwriting using Random Forests (Option 2) and unsupervised customer segmentation cohorts via K-Means (Option 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MAJOR INTERNSHIP / CAPSTONE PROJECT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Learning After Internship (Part 2): DevOps, Cloud &amp;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Microservice Engineering with FastAPI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Built enterprise-ready asynchronous REST APIs with Pydantic contract validation, automated Swagger/OpenAPI documentation, and robust error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Performance &amp; Vectorization Optimization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Learned how to profile server latency, replace dynamic dataframes with static vectorized NumPy dot products, and achieve over 350,000 predictions/sec.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Containerization &amp; Cloud Infrastructure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Mastered Dockerfile multi-stage builds, port exposure, health checks, and Docker Compose for orchestrating dual web UI and API microservice 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Version Control &amp; Remote GitHub CI/CD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Overcame credential challenges, configured ED25519 SSH keys via GitHub API, and successfully pushed full project repositories to GitHub.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MAJOR INTERNSHIP / CAPSTONE PROJECT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Summary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Capstone Project Summary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1. Complete End-to-End Pipeline: Ingested UCI Cleveland dataset, cleaned missing values with median imputation, and performed stratified 80/20 partitioning.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2. Clinical Benchmarking: Logistic Regression achieved 80.33% Accuracy, 90.91% Recall, and 0.8690 ROC-AUC, outperforming Decision Trees.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3. Production Serialization: Exported model binaries and scalers using joblib for zero-retraining inference.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4. Multi-Modality Deployment: Built interactive Streamlit UI, high-speed FastAPI microservice, and pure HTML/Tailwind web app.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5. Public Web Accessibility: Deployed live public HTTPS URL accessible worldwide in Google Chrome.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6. GitHub Repository: Project fully committed and synchronized at cherlapallyvivekvardhan-ai/heart-diseases.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Future Scope &amp; Clinical Extensions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1. Deep Learning Integration: Incorporate 1D Convolutional Neural Networks (CNNs) and LSTMs for raw 12-lead ECG waveform signal classification.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2. Electronic Health Record (EHR) Integration: Implement HL7/FHIR compliance standards to interface directly with hospital database systems.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3. Explainable AI (XAI): Integrate SHAP (SHapley Additive exPlanations) and LIME to generate per-patient visual waterfall feature attribution charts for attending physicians.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4. Edge AI &amp; Wearable Deployment: Quantize the model via ONNX/TensorFlow Lite for deployment on smartwatches (Apple Watch, Fitbit) for continuous atrial fibrillation screening.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rial"/>
              </a:defRPr>
            </a:pPr>
            <a:r>
              <a:t>MAJOR INTERNSHIP / CAPSTONE PROJECT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Bibliography &amp; Academic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Primary Academic &amp; Technical Literature: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1. Detrano, R., et al. (1989). 'International application of a new probability algorithm for the diagnosis of coronary artery disease.' The American Journal of Cardiology, 64(5), 304-310. [UCI Cleveland Dataset Foundation]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2. Janosi, A., Steinbrunn, W., Pfisterer, M., &amp; Detrano, R. (1988). Heart Disease Data Set. UCI Machine Learning Repository.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3. Pedregosa, F., et al. (2011). 'Scikit-learn: Machine Learning in Python.' Journal of Machine Learning Research (JMLR), 12, 2825-2830.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4. Al'Aref, S. J., et al. (2019). 'Clinical applications of machine learning in cardiovascular disease and its relevance to cardiac imaging.' European Heart Journal, 40(24), 1975-1986.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5. Tiwary, M., &amp; Gupta, R. (2020). 'A Comparative Study of Machine Learning Classifiers for Heart Disease Detection.' IEEE International Conference on Computing, Power and Communication Technologies (GUCON).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6. Ramirez, J., &amp; Smith, K. (2022). 'Optimizing High-Sensitivity Recall Thresholds in Emergency Cardiovascular Triage.' IEEE Transactions on Biomedical Engineering.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7. Tiangolo, S. (2023). 'FastAPI Framework Documentation: Asynchronous Web APIs with Python.' https://fastapi.tiangolo.com/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8. Treveil, M., et al. (2020). Introducing MLOps: How to Scale Machine Learning in the Enterprise. O'Reilly Media.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645920"/>
            <a:ext cx="81683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1800" b="1">
                <a:solidFill>
                  <a:srgbClr val="14B8A6"/>
                </a:solidFill>
              </a:defRPr>
            </a:pPr>
            <a:r>
              <a:t>Questions &amp; Feedback Welcomed</a:t>
            </a:r>
          </a:p>
          <a:p>
            <a:br/>
            <a:pPr algn="ctr">
              <a:defRPr sz="1500" b="1">
                <a:solidFill>
                  <a:srgbClr val="FFFFFF"/>
                </a:solidFill>
              </a:defRPr>
            </a:pPr>
            <a:r>
              <a:t>Presenter: Vivek Vardhan | CSE (AI&amp;ML)</a:t>
            </a:r>
          </a:p>
          <a:p>
            <a:pPr algn="ctr">
              <a:defRPr sz="1300">
                <a:solidFill>
                  <a:srgbClr val="06B6D4"/>
                </a:solidFill>
              </a:defRPr>
            </a:pPr>
            <a:r>
              <a:t>Geethanjali College of Engineering and Technology (GCET)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GitHub Repository: https://github.com/cherlapallyvivekvardhan-ai/heart-diseases</a:t>
            </a:r>
            <a:br/>
            <a:r>
              <a:t>Production Microservice: CardioScan AI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Department of CSE(AI&amp;ML). A.Y.2026-27, GCET. |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